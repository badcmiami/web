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27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B6270"/>
                </a:solidFill>
                <a:latin typeface="Calibri"/>
              </a:rPr>
              <a:t>Brecha por línea (presupuesto – venta, $k)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Brecha vs presupuesto ($k)</c:v>
                </c:pt>
              </c:strCache>
            </c:strRef>
          </c:tx>
          <c:spPr>
            <a:solidFill>
              <a:srgbClr val="C8000A"/>
            </a:solidFill>
            <a:effectLst/>
          </c:spPr>
          <c:invertIfNegative val="0"/>
          <c:dLbls>
            <c:numFmt formatCode="&quot;$&quot;#,##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000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000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000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000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92A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A92A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A92A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A92A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Esteril. baja temp.</c:v>
                  </c:pt>
                  <c:pt idx="1">
                    <c:v>Esteril. alta temp.</c:v>
                  </c:pt>
                  <c:pt idx="2">
                    <c:v>ECG</c:v>
                  </c:pt>
                  <c:pt idx="3">
                    <c:v>Lavadora</c:v>
                  </c:pt>
                  <c:pt idx="4">
                    <c:v>Ventiladores</c:v>
                  </c:pt>
                  <c:pt idx="5">
                    <c:v>Desfibrilador</c:v>
                  </c:pt>
                  <c:pt idx="6">
                    <c:v>Lámpara</c:v>
                  </c:pt>
                  <c:pt idx="7">
                    <c:v>EMG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272.4</c:v>
                </c:pt>
                <c:pt idx="1">
                  <c:v>129</c:v>
                </c:pt>
                <c:pt idx="2">
                  <c:v>114.2</c:v>
                </c:pt>
                <c:pt idx="3">
                  <c:v>78.2</c:v>
                </c:pt>
                <c:pt idx="4">
                  <c:v>49.7</c:v>
                </c:pt>
                <c:pt idx="5">
                  <c:v>45.4</c:v>
                </c:pt>
                <c:pt idx="6">
                  <c:v>37</c:v>
                </c:pt>
                <c:pt idx="7">
                  <c:v>28.1</c:v>
                </c:pt>
              </c:numCache>
            </c:numRef>
          </c:val>
        </c:ser>
        <c:dLbls>
          <c:numFmt formatCode="&quot;$&quot;#,##0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27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B6270"/>
                </a:solidFill>
                <a:latin typeface="Calibri"/>
              </a:rPr>
              <a:t>Variación de venta EM 2026 vs 2025 por grupo económico ($k)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Variación 2026 vs 2025 ($k)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+&quot;$&quot;#,##0.0&quot;k&quot;;-&quot;$&quot;#,##0.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8B5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000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000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000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000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8000A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Corporación HVQ</c:v>
                  </c:pt>
                  <c:pt idx="1">
                    <c:v>Clinmeyd</c:v>
                  </c:pt>
                  <c:pt idx="2">
                    <c:v>Clínica Pasteur</c:v>
                  </c:pt>
                  <c:pt idx="3">
                    <c:v>H. de los Valles</c:v>
                  </c:pt>
                  <c:pt idx="4">
                    <c:v>Clínica Internacional</c:v>
                  </c:pt>
                  <c:pt idx="5">
                    <c:v>Solca</c:v>
                  </c:pt>
                  <c:pt idx="6">
                    <c:v>Hospital Metropolitano</c:v>
                  </c:pt>
                  <c:pt idx="7">
                    <c:v>Pichincha – varios</c:v>
                  </c:pt>
                  <c:pt idx="8">
                    <c:v>Dr. Guerra Salazar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32.2</c:v>
                </c:pt>
                <c:pt idx="1">
                  <c:v>20.3</c:v>
                </c:pt>
                <c:pt idx="2">
                  <c:v>11</c:v>
                </c:pt>
                <c:pt idx="3">
                  <c:v>2.1</c:v>
                </c:pt>
                <c:pt idx="4">
                  <c:v>-15</c:v>
                </c:pt>
                <c:pt idx="5">
                  <c:v>-19.2</c:v>
                </c:pt>
                <c:pt idx="6">
                  <c:v>-57.9</c:v>
                </c:pt>
                <c:pt idx="7">
                  <c:v>-57.9</c:v>
                </c:pt>
                <c:pt idx="8">
                  <c:v>-59.4</c:v>
                </c:pt>
              </c:numCache>
            </c:numRef>
          </c:val>
        </c:ser>
        <c:dLbls>
          <c:numFmt formatCode="+&quot;$&quot;#,##0.0&quot;k&quot;;-&quot;$&quot;#,##0.0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-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27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B6270"/>
                </a:solidFill>
                <a:latin typeface="Calibri"/>
              </a:rPr>
              <a:t>Venta mensual de insumos EM, Sierra 2026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Insumos EM Sierra ($k)</c:v>
                </c:pt>
              </c:strCache>
            </c:strRef>
          </c:tx>
          <c:spPr>
            <a:solidFill>
              <a:srgbClr val="284A6D"/>
            </a:solidFill>
            <a:effectLst/>
          </c:spPr>
          <c:invertIfNegative val="0"/>
          <c:dLbls>
            <c:numFmt formatCode="&quot;$&quot;0.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84A6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84A6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84A6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84A6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84A6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84A6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84A6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84A6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A92A0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Sep*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19.8</c:v>
                </c:pt>
                <c:pt idx="1">
                  <c:v>44</c:v>
                </c:pt>
                <c:pt idx="2">
                  <c:v>31.7</c:v>
                </c:pt>
                <c:pt idx="3">
                  <c:v>56.7</c:v>
                </c:pt>
                <c:pt idx="4">
                  <c:v>33.1</c:v>
                </c:pt>
                <c:pt idx="5">
                  <c:v>42.7</c:v>
                </c:pt>
                <c:pt idx="6">
                  <c:v>44.5</c:v>
                </c:pt>
                <c:pt idx="7">
                  <c:v>48.8</c:v>
                </c:pt>
                <c:pt idx="8">
                  <c:v>26.3</c:v>
                </c:pt>
              </c:numCache>
            </c:numRef>
          </c:val>
        </c:ser>
        <c:dLbls>
          <c:numFmt formatCode="&quot;$&quot;0.0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27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B6270"/>
                </a:solidFill>
                <a:latin typeface="Calibri"/>
              </a:rPr>
              <a:t>Stock a costo por familia ($k): Guayaquil, Quito, activo comercial y demo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Equipos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Monitoreo</c:v>
                  </c:pt>
                  <c:pt idx="1">
                    <c:v>Esterilización</c:v>
                  </c:pt>
                  <c:pt idx="2">
                    <c:v>Ventilación</c:v>
                  </c:pt>
                  <c:pt idx="3">
                    <c:v>Desfibriladores</c:v>
                  </c:pt>
                  <c:pt idx="4">
                    <c:v>Neuro (EEG/EMG)</c:v>
                  </c:pt>
                  <c:pt idx="5">
                    <c:v>Quirófano</c:v>
                  </c:pt>
                  <c:pt idx="6">
                    <c:v>ECG</c:v>
                  </c:pt>
                  <c:pt idx="7">
                    <c:v>Lavadoras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72.7</c:v>
                </c:pt>
                <c:pt idx="1">
                  <c:v>226.2</c:v>
                </c:pt>
                <c:pt idx="2">
                  <c:v>59.7</c:v>
                </c:pt>
                <c:pt idx="3">
                  <c:v>47.9</c:v>
                </c:pt>
                <c:pt idx="4">
                  <c:v>15.3</c:v>
                </c:pt>
                <c:pt idx="5">
                  <c:v>48.7</c:v>
                </c:pt>
                <c:pt idx="6">
                  <c:v>15.3</c:v>
                </c:pt>
                <c:pt idx="7">
                  <c:v>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Accesorios</c:v>
                </c:pt>
              </c:strCache>
            </c:strRef>
          </c:tx>
          <c:spPr>
            <a:solidFill>
              <a:srgbClr val="E88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Monitoreo</c:v>
                  </c:pt>
                  <c:pt idx="1">
                    <c:v>Esterilización</c:v>
                  </c:pt>
                  <c:pt idx="2">
                    <c:v>Ventilación</c:v>
                  </c:pt>
                  <c:pt idx="3">
                    <c:v>Desfibriladores</c:v>
                  </c:pt>
                  <c:pt idx="4">
                    <c:v>Neuro (EEG/EMG)</c:v>
                  </c:pt>
                  <c:pt idx="5">
                    <c:v>Quirófano</c:v>
                  </c:pt>
                  <c:pt idx="6">
                    <c:v>ECG</c:v>
                  </c:pt>
                  <c:pt idx="7">
                    <c:v>Lavadoras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199.7</c:v>
                </c:pt>
                <c:pt idx="1">
                  <c:v>4.6</c:v>
                </c:pt>
                <c:pt idx="2">
                  <c:v>64.6</c:v>
                </c:pt>
                <c:pt idx="3">
                  <c:v>22.8</c:v>
                </c:pt>
                <c:pt idx="4">
                  <c:v>45.3</c:v>
                </c:pt>
                <c:pt idx="5">
                  <c:v>10.3</c:v>
                </c:pt>
                <c:pt idx="6">
                  <c:v>7.5</c:v>
                </c:pt>
                <c:pt idx="7">
                  <c:v>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2E8"/>
              </a:solidFill>
              <a:prstDash val="solid"/>
              <a:round/>
            </a:ln>
          </c:spPr>
        </c:majorGridlines>
        <c:numFmt formatCode="&quot;$&quot;0&quot;k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2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27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B6270"/>
                </a:solidFill>
                <a:latin typeface="Calibri"/>
              </a:rPr>
              <a:t>Cierre proyectado a diciembre ($k) · meta $1.198k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 a la fecha</c:v>
                </c:pt>
              </c:strCache>
            </c:strRef>
          </c:tx>
          <c:spPr>
            <a:solidFill>
              <a:srgbClr val="8A92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Conservador</c:v>
                  </c:pt>
                  <c:pt idx="1">
                    <c:v>Base</c:v>
                  </c:pt>
                  <c:pt idx="2">
                    <c:v>Base + aceleradores</c:v>
                  </c:pt>
                  <c:pt idx="3">
                    <c:v>Optimista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759.5</c:v>
                </c:pt>
                <c:pt idx="1">
                  <c:v>759.5</c:v>
                </c:pt>
                <c:pt idx="2">
                  <c:v>759.5</c:v>
                </c:pt>
                <c:pt idx="3">
                  <c:v>759.5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Insumos Q4</c:v>
                </c:pt>
              </c:strCache>
            </c:strRef>
          </c:tx>
          <c:spPr>
            <a:solidFill>
              <a:srgbClr val="284A6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Conservador</c:v>
                  </c:pt>
                  <c:pt idx="1">
                    <c:v>Base</c:v>
                  </c:pt>
                  <c:pt idx="2">
                    <c:v>Base + aceleradores</c:v>
                  </c:pt>
                  <c:pt idx="3">
                    <c:v>Optimista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108.4</c:v>
                </c:pt>
                <c:pt idx="1">
                  <c:v>120.5</c:v>
                </c:pt>
                <c:pt idx="2">
                  <c:v>120.5</c:v>
                </c:pt>
                <c:pt idx="3">
                  <c:v>136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Equipos Q4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Conservador</c:v>
                  </c:pt>
                  <c:pt idx="1">
                    <c:v>Base</c:v>
                  </c:pt>
                  <c:pt idx="2">
                    <c:v>Base + aceleradores</c:v>
                  </c:pt>
                  <c:pt idx="3">
                    <c:v>Optimista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121.3</c:v>
                </c:pt>
                <c:pt idx="1">
                  <c:v>225.3</c:v>
                </c:pt>
                <c:pt idx="2">
                  <c:v>225.3</c:v>
                </c:pt>
                <c:pt idx="3">
                  <c:v>432.5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Aceleradores</c:v>
                </c:pt>
              </c:strCache>
            </c:strRef>
          </c:tx>
          <c:spPr>
            <a:solidFill>
              <a:srgbClr val="C8000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Conservador</c:v>
                  </c:pt>
                  <c:pt idx="1">
                    <c:v>Base</c:v>
                  </c:pt>
                  <c:pt idx="2">
                    <c:v>Base + aceleradores</c:v>
                  </c:pt>
                  <c:pt idx="3">
                    <c:v>Optimista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92.7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  <c:min val="0"/>
        </c:scaling>
        <c:delete val="0"/>
        <c:axPos val="l"/>
        <c:majorGridlines>
          <c:spPr>
            <a:ln w="6350" cap="flat">
              <a:solidFill>
                <a:srgbClr val="DDE2E8"/>
              </a:solidFill>
              <a:prstDash val="solid"/>
              <a:round/>
            </a:ln>
          </c:spPr>
        </c:majorGridlines>
        <c:numFmt formatCode="&quot;$&quot;#,##0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2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Brecha = presupuesto 1.197.970 – ventas 759.457. Ritmo actual = 759k / 9 meses. Ritmo requerido = 438,5k / 3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Brecha bruta de líneas bajo meta = $754k; se compensa parcialmente con monitor multiparámetro (+$281k). Las 4 líneas principales suman $594k.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tablero EM por grupo económico 2026. Porcentajes: HVQ +124%, Clinmeyd +48%, Pasteur +22%, Valles +20%, CI -38%, Solca -66%, Metro -51%, Pichincha varios -43%, Guerra -87%. IESS +$368,7k excluido del gráfico por ser venta única.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Mezcla: esterilización baja temperatura 69% ($238k), lavadora 9%, alta temperatura 7%, monitoreo 6%, descartables 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Excluye comodatos ($1,66M), arrendados, instalaciones y garantías. Solca requiere 2 autoclaves (Ibarra y Santo Domingo): en stock hay 1 Sercon 364 L comprometido con HVQ y 1 Sercon 100 L. Confirmar configuración e importar.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Probabilidades asignadas según etapa y tipo de cliente (privado vs público). Ajustar semanalmente con el equipo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Conservador: insumos -10% y sin Solca alta temperatura. Base: insumos al promedio ene–ago y pipeline ponderado. Optimista: pipeline al 100% e insumos al ritmo jun–ago.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mes incluye aproximadamente $40k de insumos recurrentes. Metas = pipeline al 100% + insumos. Octubre = 40 + 65 + 35. Noviembre = 40 + 21,5 + 10 + 7 + 7. Diciembre = 40 + 260 + 7. Si Metro desfibriladores pasa de septiembre, octubre suma $20k.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9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>
              <a:alpha val="70000"/>
            </a:srgbClr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2103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ELECTROMEDICINA · TERRITORIO SIERRA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ventas Q4 2026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29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cierre octubre – diciembre: líneas, stock y comportamiento por cuenta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de datos: 22 de septiembre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$438k: el ritmo debe subir de $84k a $146k por mes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985455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Q4 2026 · EM  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67864" cy="1325880"/>
          </a:xfrm>
          <a:prstGeom prst="roundRect">
            <a:avLst>
              <a:gd name="adj" fmla="val 55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2110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$759k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68296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EM 2026 a la fecha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0824" y="1600200"/>
            <a:ext cx="2567864" cy="1325880"/>
          </a:xfrm>
          <a:prstGeom prst="roundRect">
            <a:avLst>
              <a:gd name="adj" fmla="val 55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65144" y="1783080"/>
            <a:ext cx="2110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$1.198M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665144" y="2368296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anual 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600200"/>
            <a:ext cx="2567864" cy="1325880"/>
          </a:xfrm>
          <a:prstGeom prst="roundRect">
            <a:avLst>
              <a:gd name="adj" fmla="val 55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7328" y="1783080"/>
            <a:ext cx="2110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63,4%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507328" y="2368296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actual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75191" y="1600200"/>
            <a:ext cx="2567864" cy="1325880"/>
          </a:xfrm>
          <a:prstGeom prst="roundRect">
            <a:avLst>
              <a:gd name="adj" fmla="val 551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49511" y="1783080"/>
            <a:ext cx="2110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$438k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349511" y="2368296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a cerrar oct–dic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dicen los datos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70332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 depende de un solo evento: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IESS ($369k) es el 49% del año y no es recurrente.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líneas concentran la brecha: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esterilización baja y alta temperatura, ECG y lavadoras ($594k bajo meta).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insumo es la base estable: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$40k/mes, 90% concentrado en 8 cuentas.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$865k de stock EM disponible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costo) que respalda el pipeline y financia aceleradores.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12280" y="3246120"/>
            <a:ext cx="4830775" cy="2880360"/>
          </a:xfrm>
          <a:prstGeom prst="roundRect">
            <a:avLst>
              <a:gd name="adj" fmla="val 254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0" y="3474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A DICIEMBRE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3794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pPr indent="0" marL="0">
              <a:buNone/>
            </a:pPr>
            <a:r>
              <a:rPr lang="en-US" sz="14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escenario base ponderado</a:t>
            </a:r>
            <a:endParaRPr lang="en-US" sz="54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8006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4 aceleradores respaldados por stock se llega a 100%. Techo: 111% si cierra todo el pipeline, incluido Solca ($260k).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DE NEGOCIO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líneas concentran el 79% del faltante por línea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985455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Q4 2026 · EM   3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66751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463040"/>
            <a:ext cx="4053535" cy="2240280"/>
          </a:xfrm>
          <a:prstGeom prst="roundRect">
            <a:avLst>
              <a:gd name="adj" fmla="val 3265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63840" y="1691640"/>
            <a:ext cx="420624" cy="420624"/>
          </a:xfrm>
          <a:prstGeom prst="ellipse">
            <a:avLst/>
          </a:prstGeom>
          <a:solidFill>
            <a:srgbClr val="C8000A"/>
          </a:solidFill>
          <a:ln w="12700">
            <a:solidFill>
              <a:srgbClr val="C8000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996" y="1796796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12480" y="1719072"/>
            <a:ext cx="3047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Sobre-cumplidas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863840" y="2240280"/>
            <a:ext cx="3596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multiparámetro 335%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sostenido por IESS; no repetible en Q4.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Descartables 162%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recurrente sano: proteger precio y abasto.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589520" y="3931920"/>
            <a:ext cx="4053535" cy="2286000"/>
          </a:xfrm>
          <a:prstGeom prst="roundRect">
            <a:avLst>
              <a:gd name="adj" fmla="val 32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0" y="4160520"/>
            <a:ext cx="420624" cy="420624"/>
          </a:xfrm>
          <a:prstGeom prst="ellipse">
            <a:avLst/>
          </a:prstGeom>
          <a:solidFill>
            <a:srgbClr val="C8000A"/>
          </a:solidFill>
          <a:ln w="12700">
            <a:solidFill>
              <a:srgbClr val="C8000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996" y="42656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12480" y="4187952"/>
            <a:ext cx="3047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Q4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7863840" y="4709160"/>
            <a:ext cx="359633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Esterilización: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Solca + HVQ ($325k) y campaña V-PRO en stock.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equipos en bodega, venta por volumen.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Lavadora: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de contrato HVQ (diciembre).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POR CUENTA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Crecen 4 cuentas; 5 explican la caída de la base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985455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Q4 2026 · EM   4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463040"/>
            <a:ext cx="4007815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63840" y="1691640"/>
            <a:ext cx="420624" cy="420624"/>
          </a:xfrm>
          <a:prstGeom prst="ellipse">
            <a:avLst/>
          </a:prstGeom>
          <a:solidFill>
            <a:srgbClr val="C8000A"/>
          </a:solidFill>
          <a:ln w="12700">
            <a:solidFill>
              <a:srgbClr val="C8000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996" y="1796796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12480" y="1691640"/>
            <a:ext cx="3093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IESS enmascara la caída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863840" y="2176272"/>
            <a:ext cx="3596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la venta única al IESS ($369k), la base de clientes vende menos que en 2025.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635240" y="3090672"/>
            <a:ext cx="4007815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0" y="3319272"/>
            <a:ext cx="420624" cy="42062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996" y="3424428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12480" y="3319272"/>
            <a:ext cx="3093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sin dueño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7863840" y="3803904"/>
            <a:ext cx="3596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$1,04M (87%) está en «Pichincha – varios». Asignarlo por cuenta es condición para gestionar.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635240" y="4718304"/>
            <a:ext cx="4007815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863840" y="4946904"/>
            <a:ext cx="420624" cy="42062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996" y="5052060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412480" y="4946904"/>
            <a:ext cx="3093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Metro y Guerra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7863840" y="5431536"/>
            <a:ext cx="3596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-$117k entre ambas. Metro ya tiene $62k de pipeline Q4; Guerra requiere visita de reactivación.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EM · BASE RECURRENTE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$40k al mes seguros: la base para asegurar $120k en Q4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985455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Q4 2026 · EM   5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7607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*Septiembre parcial al día 22. Total 2026: $347,7k.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635240" y="1463040"/>
            <a:ext cx="4007815" cy="1371600"/>
          </a:xfrm>
          <a:prstGeom prst="roundRect">
            <a:avLst>
              <a:gd name="adj" fmla="val 5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09560" y="1645920"/>
            <a:ext cx="3550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2231136"/>
            <a:ext cx="3550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Q4 (promedio ene–ago × 3)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35240" y="3017520"/>
            <a:ext cx="4007815" cy="1371600"/>
          </a:xfrm>
          <a:prstGeom prst="roundRect">
            <a:avLst>
              <a:gd name="adj" fmla="val 5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3200400"/>
            <a:ext cx="3550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$136k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3785616"/>
            <a:ext cx="3550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sostiene el ritmo jun–ago ($45k/mes)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35240" y="4572000"/>
            <a:ext cx="4007815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09560" y="4754880"/>
            <a:ext cx="3550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5340096"/>
            <a:ext cx="3550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venta viene de 8 cuentas: perder una cuesta un mes entero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POR CUENTA · INSUMOS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cuenta tiene una acción concreta para Q4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985455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Q4 2026 · EM   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25880"/>
                <a:gridCol w="731520"/>
                <a:gridCol w="6293815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Insumos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Q4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Clinmeyd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$62,5k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Proteger volumen V-PRO; abrir detergentes de lavadora (hoy $0).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Clínica Pasteur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$55,4k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 baja temperatura: sumar integradores e indicadores de vapor.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SIME Simetecuida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fijo de $4,5k/mes: septiembre aún sin facturar, confirmar.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San Juan Bautista Ambato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baja temperatura: cross-sell de alta temperatura y monitoreo.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Ginecomed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$33,9k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0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irregular: pactar pedido programado mensual.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Metropolitano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 más diversificada: accesorios de monitoreo y desfibrilador.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Corporación HVQ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$32,3k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Tendencia al alza (ago $7,1k): anclar consumibles en renovación de diciembre.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Clínica Internacional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$24,3k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0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-38% en V-PRO: prueba de detergentes y consumibles de vapor.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Hospifuturo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9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V-PRO en comodato ($68k) sin consumo de baja temperatura: auditar.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Davinci GUV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9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compra desde el 15 de junio: visita de reactivación.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crece   ■ estable   ▼ cae   ● alerta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EM DISPONIBLE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$865k en stock vendible: primero lo que ya está en bodega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985455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Q4 2026 · EM   7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463040"/>
            <a:ext cx="4007815" cy="2011680"/>
          </a:xfrm>
          <a:prstGeom prst="roundRect">
            <a:avLst>
              <a:gd name="adj" fmla="val 363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63840" y="1664208"/>
            <a:ext cx="420624" cy="42062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996" y="1769364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12480" y="1664208"/>
            <a:ext cx="30934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 el pipeline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863840" y="2194560"/>
            <a:ext cx="35963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desfibriladores · 33 monitores · 4 ventiladores NKV-550 · 18 ECG · autoclave Sercon 364 L.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635240" y="3657600"/>
            <a:ext cx="4007815" cy="2468880"/>
          </a:xfrm>
          <a:prstGeom prst="roundRect">
            <a:avLst>
              <a:gd name="adj" fmla="val 296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0" y="3858768"/>
            <a:ext cx="420624" cy="420624"/>
          </a:xfrm>
          <a:prstGeom prst="ellipse">
            <a:avLst/>
          </a:prstGeom>
          <a:solidFill>
            <a:srgbClr val="C8000A"/>
          </a:solidFill>
          <a:ln w="12700">
            <a:solidFill>
              <a:srgbClr val="C8000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996" y="3963924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12480" y="3858768"/>
            <a:ext cx="30934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sin destino: vender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7863840" y="4389120"/>
            <a:ext cx="3596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V-PRO ($135k) → brecha de baja temperatura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mesas Surginox ($43k) y lámpara XLED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Accesorios de monitoreo ($200k) → base instalada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 EEG/EMG ($61k) → HVQ, Neuroquito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EQUIPOS Q4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$433k en pipeline: $225k ponderado por probabilidad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985455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Q4 2026 · EM   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03120"/>
                <a:gridCol w="777240"/>
                <a:gridCol w="868680"/>
                <a:gridCol w="640080"/>
                <a:gridCol w="960120"/>
                <a:gridCol w="7772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Ponderado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Metropolitano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Desfibriladores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Metropolitano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Oct–Nov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$42.0k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$31.5k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Corporación HVQ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Esterilización alta temp.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$65.0k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$45.5k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de los Valles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Desfib. + ECG + monitores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$21.5k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$12.9k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Clínica Internacional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Monitores de piso (spot check)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Ventiladores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Nov–Dic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$8.4k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temp. Ibarra y Sto. Domingo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$260.0k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$104.0k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00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A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A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A6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$432.5k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A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A6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$225.3k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A6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4A6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732520" y="1463040"/>
            <a:ext cx="2910535" cy="4663440"/>
          </a:xfrm>
          <a:prstGeom prst="roundRect">
            <a:avLst>
              <a:gd name="adj" fmla="val 251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006840" y="1691640"/>
            <a:ext cx="420624" cy="420624"/>
          </a:xfrm>
          <a:prstGeom prst="ellipse">
            <a:avLst/>
          </a:prstGeom>
          <a:solidFill>
            <a:srgbClr val="C8000A"/>
          </a:solidFill>
          <a:ln w="12700">
            <a:solidFill>
              <a:srgbClr val="C8000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1996" y="1796796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55480" y="1691640"/>
            <a:ext cx="1996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crítico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9006840" y="2286000"/>
            <a:ext cx="240761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Solca = 60% del pipeline.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2 autoclaves y solo hay 1 unidad libre en bodega.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facturar en diciembre: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a fábrica antes del 15 de octubre y adjudicación en noviembre.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San Patricio ($300k, 2027):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orden de compra con anticipo en diciembre.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CIERRE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92%: cuatro aceleradores cierran los $93k restantes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985455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Q4 2026 · EM   9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63093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353312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$989k · 83%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24912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$1.105k · 92%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096512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$1.198k · 100%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68112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$1.328k · 111%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1463040"/>
            <a:ext cx="4465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Aceleradores respaldados por stock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178040" y="1965960"/>
            <a:ext cx="4465015" cy="896112"/>
          </a:xfrm>
          <a:prstGeom prst="roundRect">
            <a:avLst>
              <a:gd name="adj" fmla="val 816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60920" y="2194560"/>
            <a:ext cx="420624" cy="420624"/>
          </a:xfrm>
          <a:prstGeom prst="ellipse">
            <a:avLst/>
          </a:prstGeom>
          <a:solidFill>
            <a:srgbClr val="C8000A"/>
          </a:solidFill>
          <a:ln w="12700">
            <a:solidFill>
              <a:srgbClr val="C8000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6092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2057400"/>
            <a:ext cx="2544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mayor del stock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2368296"/>
            <a:ext cx="2544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V-PRO, autoclave Sercon 100 o mesa Surginox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0545775" y="2057400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$45k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178040" y="2990088"/>
            <a:ext cx="4465015" cy="896112"/>
          </a:xfrm>
          <a:prstGeom prst="roundRect">
            <a:avLst>
              <a:gd name="adj" fmla="val 816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60920" y="3218688"/>
            <a:ext cx="420624" cy="420624"/>
          </a:xfrm>
          <a:prstGeom prst="ellipse">
            <a:avLst/>
          </a:prstGeom>
          <a:solidFill>
            <a:srgbClr val="C8000A"/>
          </a:solidFill>
          <a:ln w="12700">
            <a:solidFill>
              <a:srgbClr val="C8000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60920" y="3218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955280" y="3081528"/>
            <a:ext cx="2544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cruzados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3392424"/>
            <a:ext cx="2544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temperatura y detergentes en Pasteur, Ambato, Clinmeyd, Internacional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10545775" y="3081528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178040" y="4014216"/>
            <a:ext cx="4465015" cy="896112"/>
          </a:xfrm>
          <a:prstGeom prst="roundRect">
            <a:avLst>
              <a:gd name="adj" fmla="val 816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60920" y="4242816"/>
            <a:ext cx="420624" cy="420624"/>
          </a:xfrm>
          <a:prstGeom prst="ellipse">
            <a:avLst/>
          </a:prstGeom>
          <a:solidFill>
            <a:srgbClr val="C8000A"/>
          </a:solidFill>
          <a:ln w="12700">
            <a:solidFill>
              <a:srgbClr val="C8000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60920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955280" y="4105656"/>
            <a:ext cx="2544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ECG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955280" y="4416552"/>
            <a:ext cx="2544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equipos a ~$1,5k: clínicas, consultorios, Valles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0545775" y="4105656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$24k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178040" y="5038344"/>
            <a:ext cx="4465015" cy="896112"/>
          </a:xfrm>
          <a:prstGeom prst="roundRect">
            <a:avLst>
              <a:gd name="adj" fmla="val 816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360920" y="5266944"/>
            <a:ext cx="420624" cy="420624"/>
          </a:xfrm>
          <a:prstGeom prst="ellipse">
            <a:avLst/>
          </a:prstGeom>
          <a:solidFill>
            <a:srgbClr val="C8000A"/>
          </a:solidFill>
          <a:ln w="12700">
            <a:solidFill>
              <a:srgbClr val="C8000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60920" y="5266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955280" y="5129784"/>
            <a:ext cx="2544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Accesorios a base instalada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955280" y="5440680"/>
            <a:ext cx="2544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Sensores, CO2 y NIBP: Metro, Solca, Valles, HVQ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545775" y="5129784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7178040" y="5943600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aceleradores: $114k frente a $93k requeridos (22% de holgura).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CLAVE · CORPORACIÓN HVQ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HVQ: capitalizar el +124% en EM y frenar la caída de contrastes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985455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Q4 2026 · EM  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15258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30580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$58,1k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85416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2026 · +124% vs 2025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8218" y="1463040"/>
            <a:ext cx="3515258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1600200"/>
            <a:ext cx="30580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$56,3k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185416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Contrastes 2026 · -22% (85% de cumplimiento)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7797" y="1463040"/>
            <a:ext cx="3515258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02117" y="1600200"/>
            <a:ext cx="30580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9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402117" y="2185416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compra de resonancia (~$9k por trimestre)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2985516"/>
            <a:ext cx="210312" cy="21031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097280" y="2880360"/>
            <a:ext cx="481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Electromedicina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474720"/>
            <a:ext cx="53643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esterilizador de alta temperatura ($65k); equipo en stock.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renovar contrato de ultrasónica y termodesinfectora, anclado a consumibles de alta temperatura y detergentes.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Comodato V-PRO: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el equipo Axxis con 15 ciclos demo. Competencia: upgrade, mantenimiento sin costo y soporte 24/7.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Elefix: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anual de 36 unidades. Monitores para UCI pediátrica.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78728" y="2880360"/>
            <a:ext cx="420624" cy="420624"/>
          </a:xfrm>
          <a:prstGeom prst="ellipse">
            <a:avLst/>
          </a:prstGeom>
          <a:solidFill>
            <a:srgbClr val="C8000A"/>
          </a:solidFill>
          <a:ln w="12700">
            <a:solidFill>
              <a:srgbClr val="C8000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84" y="2985516"/>
            <a:ext cx="210312" cy="21031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827368" y="2880360"/>
            <a:ext cx="481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Contrastes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6278728" y="3474720"/>
            <a:ext cx="53643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Resonancia: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el pedido del tercer trimestre en octubre.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Angiografía: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cayó de $140k (2022) a $3k. Charla multipaciente en HVQ y Carapungo.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Convenio de exámenes especiales en la renovación: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angiografía, histero y salpingografías, cistouretrografías.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el consumo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Valles, Carapungo y las nuevas sedes.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CLAVE · CLÍNICA INTERNACIONAL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Internacional: 2 V-PRO en comodato y consumo en caída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985455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Q4 2026 · EM  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15258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30580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$24,3k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85416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2026 · -38% (solo baja temperatura)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8218" y="1463040"/>
            <a:ext cx="3515258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1600200"/>
            <a:ext cx="30580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$59,9k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185416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Contrastes 2026 · -31% (66% de cumplimiento)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7797" y="1463040"/>
            <a:ext cx="3515258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02117" y="1600200"/>
            <a:ext cx="30580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$74,9k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402117" y="2185416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en comodato: 2 V-PRO + incubadora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2985516"/>
            <a:ext cx="210312" cy="21031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097280" y="2880360"/>
            <a:ext cx="481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Electromedicina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474720"/>
            <a:ext cx="53643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ciclos V-PRO: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 caída de cirugías, hay fuga de consumo a la competencia.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detergentes y consumibles de vapor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jefa de central (Lic. Acosta).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Consumibles de baja temperatura: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exclusividad (en alta ya trabajan solo con nosotros).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monitores de piso para cardiología y pediatría ($10k, en stock).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78728" y="2880360"/>
            <a:ext cx="420624" cy="420624"/>
          </a:xfrm>
          <a:prstGeom prst="ellipse">
            <a:avLst/>
          </a:prstGeom>
          <a:solidFill>
            <a:srgbClr val="C8000A"/>
          </a:solidFill>
          <a:ln w="12700">
            <a:solidFill>
              <a:srgbClr val="C8000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84" y="2985516"/>
            <a:ext cx="210312" cy="21031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827368" y="2880360"/>
            <a:ext cx="4815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Contrastes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6278728" y="3474720"/>
            <a:ext cx="53643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Iónico -40% y bario -45%: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de recuperación.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consumo fidelizado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precio atado a los equipos grandes (Internacional y Praxmed Carolina).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actual: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Optiray 320 50 ml (58 u/mes), kit de jeringa de 200 ml (71 u/mes).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Lanzamiento: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Xenetix 300 de 50 ml como producto de campaña.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A RECUPERAR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Metro, Solca y Valles: $358k del pipeline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985455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Q4 2026 · EM  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15258" cy="4663440"/>
          </a:xfrm>
          <a:prstGeom prst="roundRect">
            <a:avLst>
              <a:gd name="adj" fmla="val 208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459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Metropolitano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-51%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EM 2026 vs 2025 · $62k pipeline Q4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46120"/>
            <a:ext cx="296661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Septiembre: facturar desfibriladores ($20k).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Oct–nov: monitores ($42k) más set de accesorios.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estables de $3,6k/mes: sumar descartables de presión.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Patricio ($300k): orden con anticipo en diciembre.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8218" y="1463040"/>
            <a:ext cx="3515258" cy="4663440"/>
          </a:xfrm>
          <a:prstGeom prst="roundRect">
            <a:avLst>
              <a:gd name="adj" fmla="val 208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2538" y="16459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Solca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0574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-66%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27432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EM 2026 vs 2025 · $274k pipeline Q4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612538" y="3246120"/>
            <a:ext cx="296661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Ventiladores NKV-550 ($14k): 4 en stock.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Autoclaves de Ibarra y Santo Domingo ($260k): cronograma de compra pública.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a fábrica antes del 15 de octubre.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Accesorios de monitoreo para la base instalada.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27797" y="1463040"/>
            <a:ext cx="3515258" cy="4663440"/>
          </a:xfrm>
          <a:prstGeom prst="roundRect">
            <a:avLst>
              <a:gd name="adj" fmla="val 208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2117" y="16459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de los Valles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02117" y="20574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8402117" y="27432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EM 2026 vs 2025 · $21,5k pipeline Q4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402117" y="3246120"/>
            <a:ext cx="296661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Noviembre: desfibriladores, ECG y monitores.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de $0,9k/mes: activar desfibrilador y monitoreo.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 del modelo HVQ: contrastes e insumos EM.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puente para Carapungo y nuevas sedes.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mensuales de facturación y los hitos que las aseguran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985455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Q4 2026 · EM  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15258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727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01952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$140k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80360"/>
            <a:ext cx="33323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HVQ alta temperatura ($65k)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monitores ($35k)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desfibriladores, si no se facturan en septiembre ($20k)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a fábrica de autoclaves Solca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de resonancia HVQ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8218" y="1463040"/>
            <a:ext cx="3515258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2538" y="15727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1901952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$86k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429658" y="2880360"/>
            <a:ext cx="33323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Valles ($21,5k), Internacional ($10k) y Metro ($7k)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Solca ventiladores ($7k)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ECG y accesorios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Adjudicación de Solca alta temperatura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7797" y="1463040"/>
            <a:ext cx="3515258" cy="118872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02117" y="1572768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1901952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$307k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880360"/>
            <a:ext cx="333237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Solca alta temperatura ($260k)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Solca ventiladores ($7k)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del contrato HVQ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Anticipo Metro San Patricio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376672"/>
            <a:ext cx="420624" cy="420624"/>
          </a:xfrm>
          <a:prstGeom prst="ellipse">
            <a:avLst/>
          </a:prstGeom>
          <a:solidFill>
            <a:srgbClr val="284A6D"/>
          </a:solidFill>
          <a:ln w="12700">
            <a:solidFill>
              <a:srgbClr val="284A6D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5481828"/>
            <a:ext cx="210312" cy="21031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371600" y="5166360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semanal (lunes):  </a:t>
            </a:r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acumulado vs $1.198k · pipeline ponderado · cuentas sin compra de insumos en más de 45 días · stock comprometido vs libre · estado de la compra pública de Solca.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REQUERIDAS ESTA SEMANA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decisiones que definen el cierre del año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15258" cy="2926080"/>
          </a:xfrm>
          <a:prstGeom prst="roundRect">
            <a:avLst>
              <a:gd name="adj" fmla="val 2500"/>
            </a:avLst>
          </a:prstGeom>
          <a:solidFill>
            <a:srgbClr val="284A6D"/>
          </a:solidFill>
          <a:ln w="12700">
            <a:solidFill>
              <a:srgbClr val="284A6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331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0896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autoclaves Solca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94760"/>
            <a:ext cx="28751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a fábrica antes del 15 de octubre. Sin ella, $260k (60% del pipeline) pasan a 2027.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8218" y="2103120"/>
            <a:ext cx="3515258" cy="2926080"/>
          </a:xfrm>
          <a:prstGeom prst="roundRect">
            <a:avLst>
              <a:gd name="adj" fmla="val 2500"/>
            </a:avLst>
          </a:prstGeom>
          <a:solidFill>
            <a:srgbClr val="284A6D"/>
          </a:solidFill>
          <a:ln w="12700">
            <a:solidFill>
              <a:srgbClr val="284A6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8258" y="2331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58258" y="310896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presupuesto por cuenta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58258" y="3794760"/>
            <a:ext cx="28751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 los $1,04M de «Pichincha – varios» entre las cuentas para medir y gestionar.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7797" y="2103120"/>
            <a:ext cx="3515258" cy="2926080"/>
          </a:xfrm>
          <a:prstGeom prst="roundRect">
            <a:avLst>
              <a:gd name="adj" fmla="val 2500"/>
            </a:avLst>
          </a:prstGeom>
          <a:solidFill>
            <a:srgbClr val="284A6D"/>
          </a:solidFill>
          <a:ln w="12700">
            <a:solidFill>
              <a:srgbClr val="284A6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47837" y="2331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47837" y="310896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Liberar precio de campaña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47837" y="3794760"/>
            <a:ext cx="28751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V-PRO, ECG y accesorios en stock: rotar $865k de inventario y cubrir los $93k finales.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577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cierre: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$1.198k (100%)</a:t>
            </a:r>
            <a:pPr indent="0" marL="0">
              <a:buNone/>
            </a:pPr>
            <a:r>
              <a:rPr lang="en-US" sz="15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Base comprometida: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$1.105k (92%)</a:t>
            </a:r>
            <a:pPr indent="0" marL="0">
              <a:buNone/>
            </a:pPr>
            <a:r>
              <a:rPr lang="en-US" sz="15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Techo: </a:t>
            </a:r>
            <a:pPr indent="0" marL="0">
              <a:buNone/>
            </a:pPr>
            <a:r>
              <a:rPr lang="en-US" sz="1500" b="1" dirty="0">
                <a:solidFill>
                  <a:srgbClr val="E8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$1.328k (111%)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Estrategia Q4 2026 · Electromedicina</dc:title>
  <dc:subject>PptxGenJS Presentation</dc:subject>
  <dc:creator>PptxGenJS</dc:creator>
  <cp:lastModifiedBy>PptxGenJS</cp:lastModifiedBy>
  <cp:revision>1</cp:revision>
  <dcterms:created xsi:type="dcterms:W3CDTF">2026-09-23T00:25:35Z</dcterms:created>
  <dcterms:modified xsi:type="dcterms:W3CDTF">2026-09-23T00:25:35Z</dcterms:modified>
</cp:coreProperties>
</file>